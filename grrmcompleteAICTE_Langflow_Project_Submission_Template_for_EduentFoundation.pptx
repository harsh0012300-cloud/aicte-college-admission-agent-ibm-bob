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81" r:id="rId7"/>
    <p:sldId id="279" r:id="rId8"/>
    <p:sldId id="262" r:id="rId9"/>
    <p:sldId id="264" r:id="rId10"/>
    <p:sldId id="277" r:id="rId11"/>
    <p:sldId id="286" r:id="rId12"/>
    <p:sldId id="287" r:id="rId13"/>
    <p:sldId id="280" r:id="rId14"/>
    <p:sldId id="288"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a:t>
            </a:r>
            <a:r>
              <a:rPr lang="en-US" b="1" i="1" dirty="0" err="1"/>
              <a:t>Watsonx</a:t>
            </a:r>
            <a:r>
              <a:rPr lang="en-US" b="1" i="1" dirty="0"/>
              <a:t> Studio and IBM Bob”</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435081629"/>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Harsh Sharma</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harsh0012300@gmail.com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9958227784</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Education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b="1" dirty="0">
                <a:solidFill>
                  <a:srgbClr val="002060"/>
                </a:solidFill>
                <a:highlight>
                  <a:srgbClr val="FFFF00"/>
                </a:highlight>
                <a:latin typeface="Times New Roman"/>
                <a:cs typeface="Times New Roman"/>
                <a:sym typeface="Times New Roman"/>
              </a:rPr>
              <a:t>AI Chatbot for Admission Details and Student FAQs</a:t>
            </a:r>
            <a:r>
              <a:rPr lang="en-US" sz="2400" b="1" dirty="0">
                <a:highlight>
                  <a:srgbClr val="FFFF00"/>
                </a:highlight>
              </a:rPr>
              <a: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5" name="Picture 4" descr="A person with a beard and a plaid shirt&#10;&#10;AI-generated content may be incorrect.">
            <a:extLst>
              <a:ext uri="{FF2B5EF4-FFF2-40B4-BE49-F238E27FC236}">
                <a16:creationId xmlns:a16="http://schemas.microsoft.com/office/drawing/2014/main" id="{CA258BA5-DFF4-6B5B-DABF-C87A997B66D4}"/>
              </a:ext>
            </a:extLst>
          </p:cNvPr>
          <p:cNvPicPr>
            <a:picLocks noChangeAspect="1"/>
          </p:cNvPicPr>
          <p:nvPr/>
        </p:nvPicPr>
        <p:blipFill>
          <a:blip r:embed="rId3"/>
          <a:stretch>
            <a:fillRect/>
          </a:stretch>
        </p:blipFill>
        <p:spPr>
          <a:xfrm>
            <a:off x="4114800" y="3702301"/>
            <a:ext cx="713432" cy="92229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616648"/>
          </a:xfrm>
          <a:prstGeom prst="rect">
            <a:avLst/>
          </a:prstGeom>
          <a:noFill/>
        </p:spPr>
        <p:txBody>
          <a:bodyPr wrap="square" rtlCol="0">
            <a:spAutoFit/>
          </a:bodyPr>
          <a:lstStyle/>
          <a:p>
            <a:pPr fontAlgn="base"/>
            <a:endParaRPr lang="en-US" dirty="0"/>
          </a:p>
          <a:p>
            <a:r>
              <a:rPr lang="en-US" b="1" i="0" u="none" strike="noStrike" baseline="0" dirty="0">
                <a:solidFill>
                  <a:srgbClr val="000000"/>
                </a:solidFill>
                <a:latin typeface="Arial" panose="020B0604020202020204" pitchFamily="34" charset="0"/>
                <a:cs typeface="Arial" panose="020B0604020202020204" pitchFamily="34" charset="0"/>
              </a:rPr>
              <a:t>Problem Statement No.4 - </a:t>
            </a:r>
            <a:r>
              <a:rPr lang="en-US" b="0" i="0" u="none" strike="noStrike" baseline="0" dirty="0">
                <a:solidFill>
                  <a:srgbClr val="000000"/>
                </a:solidFill>
                <a:latin typeface="Arial" panose="020B0604020202020204" pitchFamily="34" charset="0"/>
                <a:cs typeface="Arial" panose="020B0604020202020204" pitchFamily="34" charset="0"/>
              </a:rPr>
              <a:t>College Admission Agent ( RAG Based ) </a:t>
            </a:r>
          </a:p>
          <a:p>
            <a:r>
              <a:rPr lang="en-US" b="1" i="0" u="none" strike="noStrike" baseline="0" dirty="0">
                <a:solidFill>
                  <a:srgbClr val="000000"/>
                </a:solidFill>
                <a:latin typeface="Arial" panose="020B0604020202020204" pitchFamily="34" charset="0"/>
                <a:cs typeface="Arial" panose="020B0604020202020204" pitchFamily="34" charset="0"/>
              </a:rPr>
              <a:t>The Challenge </a:t>
            </a:r>
            <a:r>
              <a:rPr lang="en-US" b="0" i="0" u="none" strike="noStrike" baseline="0" dirty="0">
                <a:solidFill>
                  <a:srgbClr val="000000"/>
                </a:solidFill>
                <a:latin typeface="Arial" panose="020B0604020202020204" pitchFamily="34" charset="0"/>
                <a:cs typeface="Arial" panose="020B0604020202020204" pitchFamily="34" charset="0"/>
              </a:rPr>
              <a:t>- A </a:t>
            </a:r>
            <a:r>
              <a:rPr lang="en-US" b="1" i="0" u="none" strike="noStrike" baseline="0" dirty="0">
                <a:solidFill>
                  <a:srgbClr val="000000"/>
                </a:solidFill>
                <a:latin typeface="Arial" panose="020B0604020202020204" pitchFamily="34" charset="0"/>
                <a:cs typeface="Arial" panose="020B0604020202020204" pitchFamily="34" charset="0"/>
              </a:rPr>
              <a:t>College Admission Agent</a:t>
            </a:r>
            <a:r>
              <a:rPr lang="en-US" b="0" i="0" u="none" strike="noStrike" baseline="0" dirty="0">
                <a:solidFill>
                  <a:srgbClr val="000000"/>
                </a:solidFill>
                <a:latin typeface="Arial" panose="020B0604020202020204" pitchFamily="34" charset="0"/>
                <a:cs typeface="Arial" panose="020B0604020202020204" pitchFamily="34" charset="0"/>
              </a:rPr>
              <a:t>, powered by </a:t>
            </a:r>
            <a:r>
              <a:rPr lang="en-US" b="1" i="0" u="none" strike="noStrike" baseline="0" dirty="0">
                <a:solidFill>
                  <a:srgbClr val="000000"/>
                </a:solidFill>
                <a:latin typeface="Arial" panose="020B0604020202020204" pitchFamily="34" charset="0"/>
                <a:cs typeface="Arial" panose="020B0604020202020204" pitchFamily="34" charset="0"/>
              </a:rPr>
              <a:t>RAG (Retrieval-Augmented Generation)</a:t>
            </a:r>
            <a:r>
              <a:rPr lang="en-US" b="0" i="0" u="none" strike="noStrike" baseline="0" dirty="0">
                <a:solidFill>
                  <a:srgbClr val="000000"/>
                </a:solidFill>
                <a:latin typeface="Arial" panose="020B0604020202020204" pitchFamily="34" charset="0"/>
                <a:cs typeface="Arial" panose="020B0604020202020204" pitchFamily="34" charset="0"/>
              </a:rPr>
              <a:t>, streamlines the student admission process. It retrieves and summarizes admission policies, eligibility criteria, and FAQs from institutional databases and official sources. Prospective students can ask natural language questions and receive accurate, up-to-date responses instantly. The agent helps with course selection, application guidance, fee structure, and important deadlines. Using trusted, real-time data, it reduces manual inquiries and enhances applicant experience. This AI-driven assistant boosts transparency, accessibility, and efficiency in college admissions. </a:t>
            </a:r>
            <a:endParaRPr lang="en-US" dirty="0">
              <a:latin typeface="Arial" panose="020B0604020202020204" pitchFamily="34" charset="0"/>
              <a:cs typeface="Arial" panose="020B0604020202020204" pitchFamily="34" charset="0"/>
            </a:endParaRPr>
          </a:p>
          <a:p>
            <a:pPr fontAlgn="base"/>
            <a:endParaRPr lang="en-US" b="1" dirty="0"/>
          </a:p>
          <a:p>
            <a:pPr fontAlgn="base"/>
            <a:r>
              <a:rPr lang="en-US" b="1" dirty="0"/>
              <a:t>The Objective</a:t>
            </a:r>
            <a:r>
              <a:rPr lang="en-US" dirty="0"/>
              <a:t> </a:t>
            </a:r>
          </a:p>
          <a:p>
            <a:pPr fontAlgn="base"/>
            <a:endParaRPr lang="en-US" dirty="0"/>
          </a:p>
          <a:p>
            <a:r>
              <a:rPr lang="en-US" dirty="0"/>
              <a:t>To design, develop, and deploy a responsive, web-based </a:t>
            </a:r>
            <a:r>
              <a:rPr lang="en-US" b="1" dirty="0"/>
              <a:t>Student Admission Support Chatbot</a:t>
            </a:r>
            <a:r>
              <a:rPr lang="en-US" dirty="0"/>
              <a:t> using </a:t>
            </a:r>
            <a:r>
              <a:rPr lang="en-US" b="1" dirty="0"/>
              <a:t>Node.js (Express)</a:t>
            </a:r>
            <a:r>
              <a:rPr lang="en-US" dirty="0"/>
              <a:t> integrated with </a:t>
            </a:r>
            <a:r>
              <a:rPr lang="en-US" b="1" dirty="0"/>
              <a:t>IBM Watson Assistant</a:t>
            </a:r>
            <a:r>
              <a:rPr lang="en-US" dirty="0"/>
              <a:t>, providing prospective students with real-time, automated responses to queries regarding university programs, eligibility criteria, application deadlines, fee structures, and required documentation.</a:t>
            </a:r>
          </a:p>
          <a:p>
            <a:r>
              <a:rPr lang="en-US" b="1" dirty="0"/>
              <a:t>Key Highlights to Include in Your Project Report</a:t>
            </a:r>
            <a:endParaRPr lang="en-US" dirty="0"/>
          </a:p>
          <a:p>
            <a:pPr>
              <a:buFont typeface="Arial" panose="020B0604020202020204" pitchFamily="34" charset="0"/>
              <a:buChar char="•"/>
            </a:pPr>
            <a:r>
              <a:rPr lang="en-US" b="1" dirty="0"/>
              <a:t>Primary Purpose:</a:t>
            </a:r>
            <a:r>
              <a:rPr lang="en-US" dirty="0"/>
              <a:t> Automate first-tier student admission support to handle repetitive inquiries 24/7.</a:t>
            </a:r>
          </a:p>
          <a:p>
            <a:pPr>
              <a:buFont typeface="Arial" panose="020B0604020202020204" pitchFamily="34" charset="0"/>
              <a:buChar char="•"/>
            </a:pPr>
            <a:r>
              <a:rPr lang="en-US" b="1" dirty="0"/>
              <a:t>Technology Stack:</a:t>
            </a:r>
            <a:r>
              <a:rPr lang="en-US" dirty="0"/>
              <a:t> Node.js, Express.js, REST API, HTML/CSS/JavaScript, and IBM Watson Assistant v2 API.</a:t>
            </a:r>
          </a:p>
          <a:p>
            <a:pPr>
              <a:buFont typeface="Arial" panose="020B0604020202020204" pitchFamily="34" charset="0"/>
              <a:buChar char="•"/>
            </a:pPr>
            <a:r>
              <a:rPr lang="en-US" b="1" dirty="0"/>
              <a:t>Key Capabilities:</a:t>
            </a:r>
            <a:r>
              <a:rPr lang="en-US" dirty="0"/>
              <a:t> Intent recognition, customized conversational dialog flows, quick-action prompts, and seamless frontend-backend API communication.</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7F30CC-07EF-8FCC-DA00-C9212F5DAECE}"/>
              </a:ext>
            </a:extLst>
          </p:cNvPr>
          <p:cNvSpPr txBox="1"/>
          <p:nvPr/>
        </p:nvSpPr>
        <p:spPr>
          <a:xfrm>
            <a:off x="2762654" y="704088"/>
            <a:ext cx="5028033" cy="461665"/>
          </a:xfrm>
          <a:prstGeom prst="rect">
            <a:avLst/>
          </a:prstGeom>
          <a:noFill/>
        </p:spPr>
        <p:txBody>
          <a:bodyPr wrap="square" rtlCol="0">
            <a:spAutoFit/>
          </a:bodyPr>
          <a:lstStyle/>
          <a:p>
            <a:r>
              <a:rPr lang="en-US" sz="2400" b="1"/>
              <a:t>Proposed Solution -</a:t>
            </a:r>
            <a:endParaRPr lang="en-IN" sz="2400" b="1"/>
          </a:p>
        </p:txBody>
      </p:sp>
      <p:sp>
        <p:nvSpPr>
          <p:cNvPr id="4" name="Rectangle 1">
            <a:extLst>
              <a:ext uri="{FF2B5EF4-FFF2-40B4-BE49-F238E27FC236}">
                <a16:creationId xmlns:a16="http://schemas.microsoft.com/office/drawing/2014/main" id="{1A43C28E-7C9B-450F-8977-D5700E5716FB}"/>
              </a:ext>
            </a:extLst>
          </p:cNvPr>
          <p:cNvSpPr>
            <a:spLocks noChangeArrowheads="1"/>
          </p:cNvSpPr>
          <p:nvPr/>
        </p:nvSpPr>
        <p:spPr bwMode="auto">
          <a:xfrm>
            <a:off x="675861" y="832500"/>
            <a:ext cx="11211340"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Proposed Solution</a:t>
            </a: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To solve the challenge of managing high volumes of student admission inquiries and reducing manual response delays, this project proposes a web-based, conversational AI solution: the </a:t>
            </a: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Student Admission Support Chatbot</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 solution combines a lightweight </a:t>
            </a: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Node.js (Express)</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web server with the </a:t>
            </a: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IBM Watson Assistant v2 API</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to provide instant, automated, and accurate responses to prospective students 24/7.</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Solution Architecture &amp; Components</a:t>
            </a: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Frontend Interface (public/)</a:t>
            </a: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User-Friendly Chat Web UI:</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Built with HTML5, CSS3, and modern JavaScript to present a clean, intuitive chat interface accessible from any desktop or mobile browser.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Interactive Quick Prompts:</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Includes visual quick-action chips (e.g., </a:t>
            </a:r>
            <a:r>
              <a:rPr kumimoji="0" lang="en-US" altLang="en-US" b="0" i="1" u="none" strike="noStrike" cap="none" normalizeH="0" baseline="0" dirty="0">
                <a:ln>
                  <a:noFill/>
                </a:ln>
                <a:solidFill>
                  <a:schemeClr val="tx1"/>
                </a:solidFill>
                <a:effectLst/>
                <a:latin typeface="Arial" panose="020B0604020202020204" pitchFamily="34" charset="0"/>
                <a:cs typeface="Arial" panose="020B0604020202020204" pitchFamily="34" charset="0"/>
              </a:rPr>
              <a:t>Deadlines</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1" u="none" strike="noStrike" cap="none" normalizeH="0" baseline="0" dirty="0">
                <a:ln>
                  <a:noFill/>
                </a:ln>
                <a:solidFill>
                  <a:schemeClr val="tx1"/>
                </a:solidFill>
                <a:effectLst/>
                <a:latin typeface="Arial" panose="020B0604020202020204" pitchFamily="34" charset="0"/>
                <a:cs typeface="Arial" panose="020B0604020202020204" pitchFamily="34" charset="0"/>
              </a:rPr>
              <a:t>Fee Structure</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1" u="none" strike="noStrike" cap="none" normalizeH="0" baseline="0" dirty="0">
                <a:ln>
                  <a:noFill/>
                </a:ln>
                <a:solidFill>
                  <a:schemeClr val="tx1"/>
                </a:solidFill>
                <a:effectLst/>
                <a:latin typeface="Arial" panose="020B0604020202020204" pitchFamily="34" charset="0"/>
                <a:cs typeface="Arial" panose="020B0604020202020204" pitchFamily="34" charset="0"/>
              </a:rPr>
              <a:t>CS Eligibility</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allowing users to trigger popular queries with a single click.</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Backend Application Server (server.js)</a:t>
            </a: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Express REST API:</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Acts as a secure intermediary between the client browser and the cloud-hosted NLU service.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Session Management:</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Dynamically creates and manages IBM Watson API session IDs to maintain seamless multi-turn conversation states per user.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Environment Security:</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Uses .env configuration to keep API keys and Service URLs securely decoupled from the codebase.</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Cognitive AI Engine (IBM Watson Assistant)</a:t>
            </a: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Natural Language Understanding (NLU):</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Process user inputs to identify intent regardless of phrasing variations (e.g., recognizing </a:t>
            </a:r>
            <a:r>
              <a:rPr kumimoji="0" lang="en-US" altLang="en-US" b="0" i="1" u="none" strike="noStrike" cap="none" normalizeH="0" baseline="0" dirty="0">
                <a:ln>
                  <a:noFill/>
                </a:ln>
                <a:solidFill>
                  <a:schemeClr val="tx1"/>
                </a:solidFill>
                <a:effectLst/>
                <a:latin typeface="Arial" panose="020B0604020202020204" pitchFamily="34" charset="0"/>
                <a:cs typeface="Arial" panose="020B0604020202020204" pitchFamily="34" charset="0"/>
              </a:rPr>
              <a:t>"When is the deadline?"</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and </a:t>
            </a:r>
            <a:r>
              <a:rPr kumimoji="0" lang="en-US" altLang="en-US" b="0" i="1" u="none" strike="noStrike" cap="none" normalizeH="0" baseline="0" dirty="0">
                <a:ln>
                  <a:noFill/>
                </a:ln>
                <a:solidFill>
                  <a:schemeClr val="tx1"/>
                </a:solidFill>
                <a:effectLst/>
                <a:latin typeface="Arial" panose="020B0604020202020204" pitchFamily="34" charset="0"/>
                <a:cs typeface="Arial" panose="020B0604020202020204" pitchFamily="34" charset="0"/>
              </a:rPr>
              <a:t>"Last date to apply"</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as the same request).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Custom Action Flows:</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Configured with domain-specific admission logic covering eligibility criteria, document requirements, tuition fee breakdowns, and enrollment deadlines.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Expected Outcomes &amp; Business Value</a:t>
            </a: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24/7 Support Availability:</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Provides instant answers at any hour without requiring manual staff intervention.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Reduced Support Load:</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Automates repetitive tier-1 admission queries, allowing university administrators to focus on complex cases.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Scalable Infrastructure:</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Easily expandable to handle higher user concurrency during peak admission seasons or integrate additional channels (WhatsApp, Mobile Apps, SMS).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1035657" y="4636007"/>
            <a:ext cx="4894514" cy="1323439"/>
          </a:xfrm>
          <a:prstGeom prst="rect">
            <a:avLst/>
          </a:prstGeom>
          <a:noFill/>
        </p:spPr>
        <p:txBody>
          <a:bodyPr wrap="square" rtlCol="0">
            <a:spAutoFit/>
          </a:bodyPr>
          <a:lstStyle/>
          <a:p>
            <a:pPr marL="285750" indent="-285750">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IN" sz="2000" dirty="0">
              <a:latin typeface="Arial" panose="020B0604020202020204" pitchFamily="34" charset="0"/>
              <a:cs typeface="Arial" panose="020B0604020202020204" pitchFamily="34" charset="0"/>
            </a:endParaRPr>
          </a:p>
        </p:txBody>
      </p:sp>
      <p:sp>
        <p:nvSpPr>
          <p:cNvPr id="4" name="Rectangle 1">
            <a:extLst>
              <a:ext uri="{FF2B5EF4-FFF2-40B4-BE49-F238E27FC236}">
                <a16:creationId xmlns:a16="http://schemas.microsoft.com/office/drawing/2014/main" id="{F73E823F-6A65-2166-EB18-A69751682AF2}"/>
              </a:ext>
            </a:extLst>
          </p:cNvPr>
          <p:cNvSpPr>
            <a:spLocks noChangeArrowheads="1"/>
          </p:cNvSpPr>
          <p:nvPr/>
        </p:nvSpPr>
        <p:spPr bwMode="auto">
          <a:xfrm>
            <a:off x="258418" y="1012953"/>
            <a:ext cx="11708296"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Frontend UI Layer</a:t>
            </a: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HTML5:</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Provides the semantic document structure for the chat interface, including header components, the conversation history container, quick-action chips, and user input fields.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CSS3:</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Controls visual styling, responsive design, color themes, flexbox/grid layouts, and distinct styling for user versus assistant message bubbles.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JavaScript (ES6):</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Manages frontend interactivity, DOM manipulation, quick-chip click handlers, and asynchronous fetch() API calls to communicate with the backend.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Backend Server Layer</a:t>
            </a: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Node.js:</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Serves as the cross-platform, server-side JavaScript execution runtime environment.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Express.js:</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Web framework used to serve static web assets from the public/ folder and expose API routes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api</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/message) for messaging requests.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ibm-watson</a:t>
            </a: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 SDK:</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Official Node.js library used to instantiate the AssistantV2 client and handle session lifecycle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dotenv</a:t>
            </a: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Node environment manager used to load sensitive Watson API keys, Service URLs, and Assistant IDs securely from .env files.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Cognitive AI Layer</a:t>
            </a: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IBM Watson Assistant (</a:t>
            </a:r>
            <a:r>
              <a:rPr kumimoji="0" lang="en-US" altLang="en-US"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watsonx</a:t>
            </a: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Assistant):</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Cloud-hosted Natural Language Understanding (NLU) platform configured with custom Actions, intent training sets, user example phrases, and automated dialog responses.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Development &amp; Runtime Tools</a:t>
            </a: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IBM Bob :</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Code editor and integrated development environment (IDE) used for writing code, configuring project files, and managing terminal sessions.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PowerShell / Windows Terminal:</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Command-line shell used for directory navigation, installing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npm</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dependencies, and executing local development server scripts (node server.js /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npm</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start).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155643"/>
            <a:ext cx="5908929" cy="61610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Components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181588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
        <p:nvSpPr>
          <p:cNvPr id="3" name="Rectangle 1">
            <a:extLst>
              <a:ext uri="{FF2B5EF4-FFF2-40B4-BE49-F238E27FC236}">
                <a16:creationId xmlns:a16="http://schemas.microsoft.com/office/drawing/2014/main" id="{889FD12F-416E-FC0F-B957-980A8C77D45B}"/>
              </a:ext>
            </a:extLst>
          </p:cNvPr>
          <p:cNvSpPr>
            <a:spLocks noChangeArrowheads="1"/>
          </p:cNvSpPr>
          <p:nvPr/>
        </p:nvSpPr>
        <p:spPr bwMode="auto">
          <a:xfrm>
            <a:off x="330740" y="419806"/>
            <a:ext cx="11585643"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b="0" i="0" u="none" strike="noStrike" cap="none" normalizeH="0" baseline="0" dirty="0">
                <a:ln>
                  <a:noFill/>
                </a:ln>
                <a:solidFill>
                  <a:srgbClr val="1F1F1F"/>
                </a:solidFill>
                <a:effectLst/>
                <a:latin typeface="Arial" panose="020B0604020202020204" pitchFamily="34" charset="0"/>
                <a:cs typeface="Arial" panose="020B0604020202020204" pitchFamily="34" charset="0"/>
              </a:rPr>
            </a:br>
            <a:endParaRPr kumimoji="0" lang="en-US" altLang="en-US" b="0" i="0" u="none" strike="noStrike" cap="none" normalizeH="0" baseline="0" dirty="0">
              <a:ln>
                <a:noFill/>
              </a:ln>
              <a:solidFill>
                <a:srgbClr val="1F1F1F"/>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1F1F1F"/>
                </a:solidFill>
                <a:effectLst/>
                <a:latin typeface="Arial" panose="020B0604020202020204" pitchFamily="34" charset="0"/>
                <a:cs typeface="Arial" panose="020B0604020202020204" pitchFamily="34" charset="0"/>
              </a:rPr>
              <a:t>Agents</a:t>
            </a:r>
            <a:r>
              <a:rPr kumimoji="0" lang="en-US" altLang="en-US" b="0" i="0" u="none" strike="noStrike" cap="none" normalizeH="0" baseline="0" dirty="0">
                <a:ln>
                  <a:noFill/>
                </a:ln>
                <a:solidFill>
                  <a:srgbClr val="1F1F1F"/>
                </a:solidFill>
                <a:effectLst/>
                <a:latin typeface="Arial" panose="020B0604020202020204" pitchFamily="34" charset="0"/>
                <a:cs typeface="Arial" panose="020B0604020202020204" pitchFamily="34" charset="0"/>
              </a:rPr>
              <a:t>: The core AI assistant configuration defined via manifest files (such as </a:t>
            </a:r>
            <a:r>
              <a:rPr kumimoji="0" lang="en-US" altLang="en-US" b="0" i="0" u="none" strike="noStrike" cap="none" normalizeH="0" baseline="0" dirty="0" err="1">
                <a:ln>
                  <a:noFill/>
                </a:ln>
                <a:solidFill>
                  <a:srgbClr val="1F1F1F"/>
                </a:solidFill>
                <a:effectLst/>
                <a:latin typeface="Arial" panose="020B0604020202020204" pitchFamily="34" charset="0"/>
                <a:cs typeface="Arial" panose="020B0604020202020204" pitchFamily="34" charset="0"/>
              </a:rPr>
              <a:t>agent.yaml</a:t>
            </a:r>
            <a:r>
              <a:rPr kumimoji="0" lang="en-US" altLang="en-US" b="0" i="0" u="none" strike="noStrike" cap="none" normalizeH="0" baseline="0" dirty="0">
                <a:ln>
                  <a:noFill/>
                </a:ln>
                <a:solidFill>
                  <a:srgbClr val="1F1F1F"/>
                </a:solidFill>
                <a:effectLst/>
                <a:latin typeface="Arial" panose="020B0604020202020204" pitchFamily="34" charset="0"/>
                <a:cs typeface="Arial" panose="020B0604020202020204" pitchFamily="34" charset="0"/>
              </a:rPr>
              <a:t>) containing instructions, system prompts, model mappings, and behavior rules.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b="0" i="0" u="none" strike="noStrike" cap="none" normalizeH="0" baseline="0" dirty="0">
                <a:ln>
                  <a:noFill/>
                </a:ln>
                <a:solidFill>
                  <a:srgbClr val="1F1F1F"/>
                </a:solidFill>
                <a:effectLst/>
                <a:latin typeface="Arial" panose="020B0604020202020204" pitchFamily="34" charset="0"/>
                <a:cs typeface="Arial" panose="020B0604020202020204" pitchFamily="34" charset="0"/>
              </a:rPr>
            </a:br>
            <a:endParaRPr kumimoji="0" lang="en-US" altLang="en-US" b="0" i="0" u="none" strike="noStrike" cap="none" normalizeH="0" baseline="0" dirty="0">
              <a:ln>
                <a:noFill/>
              </a:ln>
              <a:solidFill>
                <a:srgbClr val="1F1F1F"/>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1F1F1F"/>
                </a:solidFill>
                <a:effectLst/>
                <a:latin typeface="Arial" panose="020B0604020202020204" pitchFamily="34" charset="0"/>
                <a:cs typeface="Arial" panose="020B0604020202020204" pitchFamily="34" charset="0"/>
              </a:rPr>
              <a:t>Tools</a:t>
            </a:r>
            <a:r>
              <a:rPr kumimoji="0" lang="en-US" altLang="en-US" b="0" i="0" u="none" strike="noStrike" cap="none" normalizeH="0" baseline="0" dirty="0">
                <a:ln>
                  <a:noFill/>
                </a:ln>
                <a:solidFill>
                  <a:srgbClr val="1F1F1F"/>
                </a:solidFill>
                <a:effectLst/>
                <a:latin typeface="Arial" panose="020B0604020202020204" pitchFamily="34" charset="0"/>
                <a:cs typeface="Arial" panose="020B0604020202020204" pitchFamily="34" charset="0"/>
              </a:rPr>
              <a:t>: Python functions or external API integrations that enable the agent to query external systems, execute logic, or retrieve data.</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b="0" i="0" u="none" strike="noStrike" cap="none" normalizeH="0" baseline="0" dirty="0">
                <a:ln>
                  <a:noFill/>
                </a:ln>
                <a:solidFill>
                  <a:srgbClr val="1F1F1F"/>
                </a:solidFill>
                <a:effectLst/>
                <a:latin typeface="Arial" panose="020B0604020202020204" pitchFamily="34" charset="0"/>
                <a:cs typeface="Arial" panose="020B0604020202020204" pitchFamily="34" charset="0"/>
              </a:rPr>
            </a:br>
            <a:endParaRPr kumimoji="0" lang="en-US" altLang="en-US" b="0" i="0" u="none" strike="noStrike" cap="none" normalizeH="0" baseline="0" dirty="0">
              <a:ln>
                <a:noFill/>
              </a:ln>
              <a:solidFill>
                <a:srgbClr val="1F1F1F"/>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1F1F1F"/>
                </a:solidFill>
                <a:effectLst/>
                <a:latin typeface="Arial" panose="020B0604020202020204" pitchFamily="34" charset="0"/>
                <a:cs typeface="Arial" panose="020B0604020202020204" pitchFamily="34" charset="0"/>
              </a:rPr>
              <a:t>Flows / Workflows</a:t>
            </a:r>
            <a:r>
              <a:rPr kumimoji="0" lang="en-US" altLang="en-US" b="0" i="0" u="none" strike="noStrike" cap="none" normalizeH="0" baseline="0" dirty="0">
                <a:ln>
                  <a:noFill/>
                </a:ln>
                <a:solidFill>
                  <a:srgbClr val="1F1F1F"/>
                </a:solidFill>
                <a:effectLst/>
                <a:latin typeface="Arial" panose="020B0604020202020204" pitchFamily="34" charset="0"/>
                <a:cs typeface="Arial" panose="020B0604020202020204" pitchFamily="34" charset="0"/>
              </a:rPr>
              <a:t>: Multi-step orchestrated logic patterns built to handle complex decision trees, user data collection, or sequential processing tasks.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b="0" i="0" u="none" strike="noStrike" cap="none" normalizeH="0" baseline="0" dirty="0">
                <a:ln>
                  <a:noFill/>
                </a:ln>
                <a:solidFill>
                  <a:srgbClr val="1F1F1F"/>
                </a:solidFill>
                <a:effectLst/>
                <a:latin typeface="Arial" panose="020B0604020202020204" pitchFamily="34" charset="0"/>
                <a:cs typeface="Arial" panose="020B0604020202020204" pitchFamily="34" charset="0"/>
              </a:rPr>
            </a:br>
            <a:endParaRPr kumimoji="0" lang="en-US" altLang="en-US" b="0" i="0" u="none" strike="noStrike" cap="none" normalizeH="0" baseline="0" dirty="0">
              <a:ln>
                <a:noFill/>
              </a:ln>
              <a:solidFill>
                <a:srgbClr val="1F1F1F"/>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1F1F1F"/>
                </a:solidFill>
                <a:effectLst/>
                <a:latin typeface="Arial" panose="020B0604020202020204" pitchFamily="34" charset="0"/>
                <a:cs typeface="Arial" panose="020B0604020202020204" pitchFamily="34" charset="0"/>
              </a:rPr>
              <a:t>Knowledge Bases</a:t>
            </a:r>
            <a:r>
              <a:rPr kumimoji="0" lang="en-US" altLang="en-US" b="0" i="0" u="none" strike="noStrike" cap="none" normalizeH="0" baseline="0" dirty="0">
                <a:ln>
                  <a:noFill/>
                </a:ln>
                <a:solidFill>
                  <a:srgbClr val="1F1F1F"/>
                </a:solidFill>
                <a:effectLst/>
                <a:latin typeface="Arial" panose="020B0604020202020204" pitchFamily="34" charset="0"/>
                <a:cs typeface="Arial" panose="020B0604020202020204" pitchFamily="34" charset="0"/>
              </a:rPr>
              <a:t>: Document repositories or vector data sources connected to the agent to provide grounded, context-specific answers regarding student admissions.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b="0" i="0" u="none" strike="noStrike" cap="none" normalizeH="0" baseline="0" dirty="0">
                <a:ln>
                  <a:noFill/>
                </a:ln>
                <a:solidFill>
                  <a:srgbClr val="1F1F1F"/>
                </a:solidFill>
                <a:effectLst/>
                <a:latin typeface="Arial" panose="020B0604020202020204" pitchFamily="34" charset="0"/>
                <a:cs typeface="Arial" panose="020B0604020202020204" pitchFamily="34" charset="0"/>
              </a:rPr>
            </a:br>
            <a:endParaRPr kumimoji="0" lang="en-US" altLang="en-US" b="0" i="0" u="none" strike="noStrike" cap="none" normalizeH="0" baseline="0" dirty="0">
              <a:ln>
                <a:noFill/>
              </a:ln>
              <a:solidFill>
                <a:srgbClr val="1F1F1F"/>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1F1F1F"/>
                </a:solidFill>
                <a:effectLst/>
                <a:latin typeface="Arial" panose="020B0604020202020204" pitchFamily="34" charset="0"/>
                <a:cs typeface="Arial" panose="020B0604020202020204" pitchFamily="34" charset="0"/>
              </a:rPr>
              <a:t>Connections</a:t>
            </a:r>
            <a:r>
              <a:rPr kumimoji="0" lang="en-US" altLang="en-US" b="0" i="0" u="none" strike="noStrike" cap="none" normalizeH="0" baseline="0" dirty="0">
                <a:ln>
                  <a:noFill/>
                </a:ln>
                <a:solidFill>
                  <a:srgbClr val="1F1F1F"/>
                </a:solidFill>
                <a:effectLst/>
                <a:latin typeface="Arial" panose="020B0604020202020204" pitchFamily="34" charset="0"/>
                <a:cs typeface="Arial" panose="020B0604020202020204" pitchFamily="34" charset="0"/>
              </a:rPr>
              <a:t>: Authenticated credentials and service connectors required to securely link tools to external databases or APIs.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b="0" i="0" u="none" strike="noStrike" cap="none" normalizeH="0" baseline="0" dirty="0">
                <a:ln>
                  <a:noFill/>
                </a:ln>
                <a:solidFill>
                  <a:srgbClr val="1F1F1F"/>
                </a:solidFill>
                <a:effectLst/>
                <a:latin typeface="Arial" panose="020B0604020202020204" pitchFamily="34" charset="0"/>
                <a:cs typeface="Arial" panose="020B0604020202020204" pitchFamily="34" charset="0"/>
              </a:rPr>
            </a:br>
            <a:endParaRPr kumimoji="0" lang="en-US" altLang="en-US" b="0" i="0" u="none" strike="noStrike" cap="none" normalizeH="0" baseline="0" dirty="0">
              <a:ln>
                <a:noFill/>
              </a:ln>
              <a:solidFill>
                <a:srgbClr val="1F1F1F"/>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1F1F1F"/>
                </a:solidFill>
                <a:effectLst/>
                <a:latin typeface="Arial" panose="020B0604020202020204" pitchFamily="34" charset="0"/>
                <a:cs typeface="Arial" panose="020B0604020202020204" pitchFamily="34" charset="0"/>
              </a:rPr>
              <a:t>ADK CLI &amp; Environment</a:t>
            </a:r>
            <a:r>
              <a:rPr kumimoji="0" lang="en-US" altLang="en-US" b="0" i="0" u="none" strike="noStrike" cap="none" normalizeH="0" baseline="0" dirty="0">
                <a:ln>
                  <a:noFill/>
                </a:ln>
                <a:solidFill>
                  <a:srgbClr val="1F1F1F"/>
                </a:solidFill>
                <a:effectLst/>
                <a:latin typeface="Arial" panose="020B0604020202020204" pitchFamily="34" charset="0"/>
                <a:cs typeface="Arial" panose="020B0604020202020204" pitchFamily="34" charset="0"/>
              </a:rPr>
              <a:t>: The local development tools, command-line interface, and package manager (</a:t>
            </a:r>
            <a:r>
              <a:rPr kumimoji="0" lang="en-US" altLang="en-US" b="0" i="0" u="none" strike="noStrike" cap="none" normalizeH="0" baseline="0" dirty="0" err="1">
                <a:ln>
                  <a:noFill/>
                </a:ln>
                <a:solidFill>
                  <a:srgbClr val="1F1F1F"/>
                </a:solidFill>
                <a:effectLst/>
                <a:latin typeface="Arial" panose="020B0604020202020204" pitchFamily="34" charset="0"/>
                <a:cs typeface="Arial" panose="020B0604020202020204" pitchFamily="34" charset="0"/>
              </a:rPr>
              <a:t>uv</a:t>
            </a:r>
            <a:r>
              <a:rPr kumimoji="0" lang="en-US" altLang="en-US" b="0" i="0" u="none" strike="noStrike" cap="none" normalizeH="0" baseline="0" dirty="0">
                <a:ln>
                  <a:noFill/>
                </a:ln>
                <a:solidFill>
                  <a:srgbClr val="1F1F1F"/>
                </a:solidFill>
                <a:effectLst/>
                <a:latin typeface="Arial" panose="020B0604020202020204" pitchFamily="34" charset="0"/>
                <a:cs typeface="Arial" panose="020B0604020202020204" pitchFamily="34" charset="0"/>
              </a:rPr>
              <a:t>) used to test, activate environments, and push deployment assets.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rgbClr val="1F1F1F"/>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rgbClr val="1F1F1F"/>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
        <p:nvSpPr>
          <p:cNvPr id="4" name="Rectangle 2">
            <a:extLst>
              <a:ext uri="{FF2B5EF4-FFF2-40B4-BE49-F238E27FC236}">
                <a16:creationId xmlns:a16="http://schemas.microsoft.com/office/drawing/2014/main" id="{EEA77450-39CF-6B0F-6827-08A8F25141ED}"/>
              </a:ext>
            </a:extLst>
          </p:cNvPr>
          <p:cNvSpPr>
            <a:spLocks noChangeArrowheads="1"/>
          </p:cNvSpPr>
          <p:nvPr/>
        </p:nvSpPr>
        <p:spPr bwMode="auto">
          <a:xfrm>
            <a:off x="330740" y="5313007"/>
            <a:ext cx="10829888"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1F1F1F"/>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1F1F1F"/>
                </a:solidFill>
                <a:effectLst/>
                <a:latin typeface="Arial" panose="020B0604020202020204" pitchFamily="34" charset="0"/>
                <a:cs typeface="Arial" panose="020B0604020202020204" pitchFamily="34" charset="0"/>
              </a:rPr>
              <a:t>IBM Bob</a:t>
            </a:r>
            <a:r>
              <a:rPr kumimoji="0" lang="en-US" altLang="en-US" b="0" i="0" u="none" strike="noStrike" cap="none" normalizeH="0" baseline="0" dirty="0">
                <a:ln>
                  <a:noFill/>
                </a:ln>
                <a:solidFill>
                  <a:srgbClr val="1F1F1F"/>
                </a:solidFill>
                <a:effectLst/>
                <a:latin typeface="Arial" panose="020B0604020202020204" pitchFamily="34" charset="0"/>
                <a:cs typeface="Arial" panose="020B0604020202020204" pitchFamily="34" charset="0"/>
              </a:rPr>
              <a:t>: Used for AI-assisted code generation, rapid prototyping, and accelerating development tasks.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b="0" i="0" u="none" strike="noStrike" cap="none" normalizeH="0" baseline="0" dirty="0">
                <a:ln>
                  <a:noFill/>
                </a:ln>
                <a:solidFill>
                  <a:srgbClr val="1F1F1F"/>
                </a:solidFill>
                <a:effectLst/>
                <a:latin typeface="Arial" panose="020B0604020202020204" pitchFamily="34" charset="0"/>
                <a:cs typeface="Arial" panose="020B0604020202020204" pitchFamily="34" charset="0"/>
              </a:rPr>
            </a:br>
            <a:endParaRPr kumimoji="0" lang="en-US" altLang="en-US" b="0" i="0" u="none" strike="noStrike" cap="none" normalizeH="0" baseline="0" dirty="0">
              <a:ln>
                <a:noFill/>
              </a:ln>
              <a:solidFill>
                <a:srgbClr val="1F1F1F"/>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1F1F1F"/>
                </a:solidFill>
                <a:effectLst/>
                <a:latin typeface="Arial" panose="020B0604020202020204" pitchFamily="34" charset="0"/>
                <a:cs typeface="Arial" panose="020B0604020202020204" pitchFamily="34" charset="0"/>
              </a:rPr>
              <a:t>Watson Studio</a:t>
            </a:r>
            <a:r>
              <a:rPr kumimoji="0" lang="en-US" altLang="en-US" b="0" i="0" u="none" strike="noStrike" cap="none" normalizeH="0" baseline="0" dirty="0">
                <a:ln>
                  <a:noFill/>
                </a:ln>
                <a:solidFill>
                  <a:srgbClr val="1F1F1F"/>
                </a:solidFill>
                <a:effectLst/>
                <a:latin typeface="Arial" panose="020B0604020202020204" pitchFamily="34" charset="0"/>
                <a:cs typeface="Arial" panose="020B0604020202020204" pitchFamily="34" charset="0"/>
              </a:rPr>
              <a:t>: Used for data preparation, building machine learning models, and orchestrating the creation and training of the chatbot.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Diagrams-</a:t>
            </a:r>
            <a:endParaRPr sz="2400" b="1" dirty="0">
              <a:sym typeface="Times New Roman"/>
            </a:endParaRPr>
          </a:p>
        </p:txBody>
      </p:sp>
      <p:pic>
        <p:nvPicPr>
          <p:cNvPr id="9" name="Picture 8" descr="A screenshot of a computer&#10;&#10;AI-generated content may be incorrect.">
            <a:extLst>
              <a:ext uri="{FF2B5EF4-FFF2-40B4-BE49-F238E27FC236}">
                <a16:creationId xmlns:a16="http://schemas.microsoft.com/office/drawing/2014/main" id="{E861A8C5-1B67-FFB3-4CC8-BE8E2D44BC1B}"/>
              </a:ext>
            </a:extLst>
          </p:cNvPr>
          <p:cNvPicPr>
            <a:picLocks noChangeAspect="1"/>
          </p:cNvPicPr>
          <p:nvPr/>
        </p:nvPicPr>
        <p:blipFill>
          <a:blip r:embed="rId3"/>
          <a:stretch>
            <a:fillRect/>
          </a:stretch>
        </p:blipFill>
        <p:spPr>
          <a:xfrm>
            <a:off x="0" y="924128"/>
            <a:ext cx="5908929" cy="5679466"/>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9D000B6B-D6CB-2080-3447-B2373A37ACC5}"/>
              </a:ext>
            </a:extLst>
          </p:cNvPr>
          <p:cNvPicPr>
            <a:picLocks noChangeAspect="1"/>
          </p:cNvPicPr>
          <p:nvPr/>
        </p:nvPicPr>
        <p:blipFill>
          <a:blip r:embed="rId4"/>
          <a:stretch>
            <a:fillRect/>
          </a:stretch>
        </p:blipFill>
        <p:spPr>
          <a:xfrm>
            <a:off x="5992238" y="476655"/>
            <a:ext cx="6199762" cy="6086778"/>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Code using IBM BOB </a:t>
            </a:r>
            <a:r>
              <a:rPr lang="en-US" sz="2400" b="1" dirty="0" err="1">
                <a:solidFill>
                  <a:schemeClr val="dk1"/>
                </a:solidFill>
                <a:latin typeface="Calibri"/>
                <a:ea typeface="Calibri"/>
                <a:cs typeface="Calibri"/>
                <a:sym typeface="Calibri"/>
              </a:rPr>
              <a:t>AutoCode</a:t>
            </a:r>
            <a:endParaRPr lang="en-US" sz="2400" dirty="0"/>
          </a:p>
        </p:txBody>
      </p:sp>
      <p:pic>
        <p:nvPicPr>
          <p:cNvPr id="5" name="Picture 4" descr="A screenshot of a computer&#10;&#10;AI-generated content may be incorrect.">
            <a:extLst>
              <a:ext uri="{FF2B5EF4-FFF2-40B4-BE49-F238E27FC236}">
                <a16:creationId xmlns:a16="http://schemas.microsoft.com/office/drawing/2014/main" id="{9978CA19-6A38-6E7F-5260-D37050AE982D}"/>
              </a:ext>
            </a:extLst>
          </p:cNvPr>
          <p:cNvPicPr>
            <a:picLocks noChangeAspect="1"/>
          </p:cNvPicPr>
          <p:nvPr/>
        </p:nvPicPr>
        <p:blipFill>
          <a:blip r:embed="rId3"/>
          <a:stretch>
            <a:fillRect/>
          </a:stretch>
        </p:blipFill>
        <p:spPr>
          <a:xfrm>
            <a:off x="223736" y="771746"/>
            <a:ext cx="11858017" cy="588197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2031325"/>
          </a:xfrm>
          <a:prstGeom prst="rect">
            <a:avLst/>
          </a:prstGeom>
          <a:noFill/>
        </p:spPr>
        <p:txBody>
          <a:bodyPr wrap="square" rtlCol="0">
            <a:spAutoFit/>
          </a:bodyPr>
          <a:lstStyle/>
          <a:p>
            <a:r>
              <a:rPr lang="en-US" b="1" dirty="0"/>
              <a:t>Role of Agentic AI in Student Admission AI Helper</a:t>
            </a:r>
          </a:p>
          <a:p>
            <a:r>
              <a:rPr lang="en-US" b="1" dirty="0"/>
              <a:t>Agentic AI</a:t>
            </a:r>
            <a:r>
              <a:rPr lang="en-US" dirty="0"/>
              <a:t> enables the Agent to function as an intelligent, autonomous system rather than a simple chatbot. Using </a:t>
            </a:r>
            <a:r>
              <a:rPr lang="en-US" b="1" dirty="0"/>
              <a:t>IBM watsonx.ai</a:t>
            </a:r>
            <a:r>
              <a:rPr lang="en-US" dirty="0"/>
              <a:t>, it coordinates multiple specialized agents to deliver useful answers.</a:t>
            </a:r>
          </a:p>
          <a:p>
            <a:r>
              <a:rPr lang="en-US" dirty="0"/>
              <a:t>Each agent performs a specific role—such as retrieving admission data, generating admission plans, providing </a:t>
            </a:r>
            <a:r>
              <a:rPr lang="en-US" dirty="0" err="1"/>
              <a:t>info,while</a:t>
            </a:r>
            <a:r>
              <a:rPr lang="en-US" dirty="0"/>
              <a:t> working collaboratively. This </a:t>
            </a:r>
            <a:r>
              <a:rPr lang="en-US" b="1" dirty="0"/>
              <a:t>multi-agent approach</a:t>
            </a:r>
            <a:r>
              <a:rPr lang="en-US" dirty="0"/>
              <a:t> ensures efficient task execution and accurate results.</a:t>
            </a:r>
          </a:p>
          <a:p>
            <a:r>
              <a:rPr lang="en-US" dirty="0"/>
              <a:t>Overall, Agentic AI makes the system proactive, personalized, and goal-driven, acting like a </a:t>
            </a:r>
            <a:r>
              <a:rPr lang="en-US" b="1" dirty="0"/>
              <a:t>24/7</a:t>
            </a:r>
            <a:r>
              <a:rPr lang="en-US" dirty="0"/>
              <a:t> </a:t>
            </a:r>
            <a:r>
              <a:rPr lang="en-US" b="1" dirty="0"/>
              <a:t>smart digital query solver</a:t>
            </a:r>
            <a:r>
              <a:rPr lang="en-US" dirty="0"/>
              <a:t> that helps students in admissions and FAQs.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1384995"/>
          </a:xfrm>
          <a:prstGeom prst="rect">
            <a:avLst/>
          </a:prstGeom>
          <a:noFill/>
        </p:spPr>
        <p:txBody>
          <a:bodyPr wrap="square" rtlCol="0">
            <a:spAutoFit/>
          </a:bodyPr>
          <a:lstStyle/>
          <a:p>
            <a:r>
              <a:rPr lang="en-US" dirty="0"/>
              <a:t>AI-driven personalization: Unlike static FAQ pages, the chatbot adapts responses based on student queries, offering tailored information about fees, eligibility, and admission processes.</a:t>
            </a:r>
            <a:endParaRPr lang="en-IN" dirty="0"/>
          </a:p>
          <a:p>
            <a:r>
              <a:rPr lang="en-US" dirty="0"/>
              <a:t>24/7 availability: Students can access admission details anytime, reducing dependency on office hours and manual staff intervention.</a:t>
            </a:r>
            <a:endParaRPr lang="en-IN" dirty="0"/>
          </a:p>
          <a:p>
            <a:r>
              <a:rPr lang="en-IN" dirty="0"/>
              <a:t>Natural language understanding**: IBM Watson’s NLP capabilities allow the chatbot to interpret varied student queries (e.g., “What’s the fee for Computer Science?” vs. “How much does Computer Science cost?”) and respond accurately.</a:t>
            </a:r>
          </a:p>
          <a:p>
            <a:r>
              <a:rPr lang="en-US" dirty="0"/>
              <a:t>Interactive guidance: Beyond FAQs, it can guide students step-by-step through admission forms, deadlines, and required documents.</a:t>
            </a:r>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a:t>
            </a:r>
            <a:r>
              <a:rPr lang="en-US" sz="1850">
                <a:solidFill>
                  <a:srgbClr val="2B3541"/>
                </a:solidFill>
                <a:latin typeface="Times New Roman"/>
                <a:ea typeface="Times New Roman"/>
                <a:cs typeface="Times New Roman"/>
                <a:sym typeface="Times New Roman"/>
              </a:rPr>
              <a:t>URL – https://github.com/harsh0012300-cloud/AICTE-College-Admission-Agent-IBM-Bob</a:t>
            </a:r>
            <a:endParaRPr lang="en-US" sz="1850" dirty="0">
              <a:solidFill>
                <a:srgbClr val="2B3541"/>
              </a:solidFill>
              <a:latin typeface="Times New Roman"/>
              <a:ea typeface="Times New Roman"/>
              <a:cs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latin typeface="Times New Roman"/>
                <a:ea typeface="Times New Roman"/>
                <a:cs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b="0" i="0" u="none" strike="noStrike" cap="none" dirty="0">
                <a:solidFill>
                  <a:srgbClr val="000000"/>
                </a:solidFill>
                <a:latin typeface="Arial" panose="020B0604020202020204" pitchFamily="34" charset="0"/>
                <a:ea typeface="Times New Roman"/>
                <a:cs typeface="Arial" panose="020B0604020202020204" pitchFamily="34" charset="0"/>
                <a:sym typeface="Times New Roman"/>
              </a:rPr>
              <a:t>- Integration with admission portals: Directly connect the chatbot with online application systems to allow students to fill forms, upload documents, and track status.  </a:t>
            </a:r>
          </a:p>
          <a:p>
            <a:pPr marL="0" marR="0" lvl="0" indent="0" algn="l" rtl="0">
              <a:lnSpc>
                <a:spcPct val="162162"/>
              </a:lnSpc>
              <a:spcBef>
                <a:spcPts val="0"/>
              </a:spcBef>
              <a:spcAft>
                <a:spcPts val="0"/>
              </a:spcAft>
              <a:buClr>
                <a:srgbClr val="2B3541"/>
              </a:buClr>
              <a:buSzPts val="1850"/>
              <a:buFont typeface="Times New Roman"/>
              <a:buNone/>
            </a:pPr>
            <a:r>
              <a:rPr lang="en-US" b="0" i="0" u="none" strike="noStrike" cap="none" dirty="0">
                <a:solidFill>
                  <a:srgbClr val="000000"/>
                </a:solidFill>
                <a:latin typeface="Arial" panose="020B0604020202020204" pitchFamily="34" charset="0"/>
                <a:ea typeface="Times New Roman"/>
                <a:cs typeface="Arial" panose="020B0604020202020204" pitchFamily="34" charset="0"/>
                <a:sym typeface="Times New Roman"/>
              </a:rPr>
              <a:t>- Voice-enabled interaction: Adding speech recognition for students who prefer voice queries, making the system more accessible.  </a:t>
            </a:r>
          </a:p>
          <a:p>
            <a:pPr marL="0" marR="0" lvl="0" indent="0" algn="l" rtl="0">
              <a:lnSpc>
                <a:spcPct val="162162"/>
              </a:lnSpc>
              <a:spcBef>
                <a:spcPts val="0"/>
              </a:spcBef>
              <a:spcAft>
                <a:spcPts val="0"/>
              </a:spcAft>
              <a:buClr>
                <a:srgbClr val="2B3541"/>
              </a:buClr>
              <a:buSzPts val="1850"/>
              <a:buFont typeface="Times New Roman"/>
              <a:buNone/>
            </a:pPr>
            <a:r>
              <a:rPr lang="en-US" b="0" i="0" u="none" strike="noStrike" cap="none" dirty="0">
                <a:solidFill>
                  <a:srgbClr val="000000"/>
                </a:solidFill>
                <a:latin typeface="Arial" panose="020B0604020202020204" pitchFamily="34" charset="0"/>
                <a:ea typeface="Times New Roman"/>
                <a:cs typeface="Arial" panose="020B0604020202020204" pitchFamily="34" charset="0"/>
                <a:sym typeface="Times New Roman"/>
              </a:rPr>
              <a:t>- Predictive analytics: Using AI to predict admission trends, student interests, and program demand based on chatbot interactions.  </a:t>
            </a:r>
          </a:p>
          <a:p>
            <a:pPr marL="0" marR="0" lvl="0" indent="0" algn="l" rtl="0">
              <a:lnSpc>
                <a:spcPct val="162162"/>
              </a:lnSpc>
              <a:spcBef>
                <a:spcPts val="0"/>
              </a:spcBef>
              <a:spcAft>
                <a:spcPts val="0"/>
              </a:spcAft>
              <a:buClr>
                <a:srgbClr val="2B3541"/>
              </a:buClr>
              <a:buSzPts val="1850"/>
              <a:buFont typeface="Times New Roman"/>
              <a:buNone/>
            </a:pPr>
            <a:r>
              <a:rPr lang="en-US" b="0" i="0" u="none" strike="noStrike" cap="none" dirty="0">
                <a:solidFill>
                  <a:srgbClr val="000000"/>
                </a:solidFill>
                <a:latin typeface="Arial" panose="020B0604020202020204" pitchFamily="34" charset="0"/>
                <a:ea typeface="Times New Roman"/>
                <a:cs typeface="Arial" panose="020B0604020202020204" pitchFamily="34" charset="0"/>
                <a:sym typeface="Times New Roman"/>
              </a:rPr>
              <a:t>- Virtual counseling: Extending the chatbot to provide career guidance, course recommendations, and personalized counseling sessions.  </a:t>
            </a:r>
          </a:p>
          <a:p>
            <a:pPr marL="0" marR="0" lvl="0" indent="0" algn="l" rtl="0">
              <a:lnSpc>
                <a:spcPct val="162162"/>
              </a:lnSpc>
              <a:spcBef>
                <a:spcPts val="0"/>
              </a:spcBef>
              <a:spcAft>
                <a:spcPts val="0"/>
              </a:spcAft>
              <a:buClr>
                <a:srgbClr val="2B3541"/>
              </a:buClr>
              <a:buSzPts val="1850"/>
              <a:buFont typeface="Times New Roman"/>
              <a:buNone/>
            </a:pPr>
            <a:r>
              <a:rPr lang="en-US" b="0" i="0" u="none" strike="noStrike" cap="none" dirty="0">
                <a:solidFill>
                  <a:srgbClr val="000000"/>
                </a:solidFill>
                <a:latin typeface="Arial" panose="020B0604020202020204" pitchFamily="34" charset="0"/>
                <a:ea typeface="Times New Roman"/>
                <a:cs typeface="Arial" panose="020B0604020202020204" pitchFamily="34" charset="0"/>
                <a:sym typeface="Times New Roman"/>
              </a:rPr>
              <a:t>- Integration with payment systems: Allowing students to check fee structures and even make secure payments directly through the chatbot.  </a:t>
            </a:r>
          </a:p>
          <a:p>
            <a:pPr marL="0" marR="0" lvl="0" indent="0" algn="l" rtl="0">
              <a:lnSpc>
                <a:spcPct val="162162"/>
              </a:lnSpc>
              <a:spcBef>
                <a:spcPts val="0"/>
              </a:spcBef>
              <a:spcAft>
                <a:spcPts val="0"/>
              </a:spcAft>
              <a:buClr>
                <a:srgbClr val="2B3541"/>
              </a:buClr>
              <a:buSzPts val="1850"/>
              <a:buFont typeface="Times New Roman"/>
              <a:buNone/>
            </a:pPr>
            <a:r>
              <a:rPr lang="en-US" b="0" i="0" u="none" strike="noStrike" cap="none" dirty="0">
                <a:solidFill>
                  <a:srgbClr val="000000"/>
                </a:solidFill>
                <a:latin typeface="Arial" panose="020B0604020202020204" pitchFamily="34" charset="0"/>
                <a:ea typeface="Times New Roman"/>
                <a:cs typeface="Arial" panose="020B0604020202020204" pitchFamily="34" charset="0"/>
                <a:sym typeface="Times New Roman"/>
              </a:rPr>
              <a:t>- Continuous learning: With Watson’s machine learning, the chatbot can evolve to answer new queries and improve accuracy over time.  </a:t>
            </a:r>
          </a:p>
          <a:p>
            <a:pPr marL="0" marR="0" lvl="0" indent="0" algn="l" rtl="0">
              <a:lnSpc>
                <a:spcPct val="162162"/>
              </a:lnSpc>
              <a:spcBef>
                <a:spcPts val="0"/>
              </a:spcBef>
              <a:spcAft>
                <a:spcPts val="0"/>
              </a:spcAft>
              <a:buClr>
                <a:srgbClr val="2B3541"/>
              </a:buClr>
              <a:buSzPts val="1850"/>
              <a:buFont typeface="Times New Roman"/>
              <a:buNone/>
            </a:pPr>
            <a:r>
              <a:rPr lang="en-US" b="0" i="0" u="none" strike="noStrike" cap="none" dirty="0">
                <a:solidFill>
                  <a:srgbClr val="000000"/>
                </a:solidFill>
                <a:latin typeface="Arial" panose="020B0604020202020204" pitchFamily="34" charset="0"/>
                <a:ea typeface="Times New Roman"/>
                <a:cs typeface="Arial" panose="020B0604020202020204" pitchFamily="34" charset="0"/>
                <a:sym typeface="Times New Roman"/>
              </a:rPr>
              <a:t>- Cross-platform deployment: Expanding availability across mobile apps, websites, WhatsApp, and social media to reach students on their preferred platforms.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graphicFrame>
        <p:nvGraphicFramePr>
          <p:cNvPr id="2" name="Object 1">
            <a:extLst>
              <a:ext uri="{FF2B5EF4-FFF2-40B4-BE49-F238E27FC236}">
                <a16:creationId xmlns:a16="http://schemas.microsoft.com/office/drawing/2014/main" id="{25D362B3-E900-8599-A497-F7A2FB3CD6D9}"/>
              </a:ext>
            </a:extLst>
          </p:cNvPr>
          <p:cNvGraphicFramePr>
            <a:graphicFrameLocks noChangeAspect="1"/>
          </p:cNvGraphicFramePr>
          <p:nvPr>
            <p:extLst>
              <p:ext uri="{D42A27DB-BD31-4B8C-83A1-F6EECF244321}">
                <p14:modId xmlns:p14="http://schemas.microsoft.com/office/powerpoint/2010/main" val="1378711901"/>
              </p:ext>
            </p:extLst>
          </p:nvPr>
        </p:nvGraphicFramePr>
        <p:xfrm>
          <a:off x="2652004" y="1695962"/>
          <a:ext cx="6035675" cy="4664075"/>
        </p:xfrm>
        <a:graphic>
          <a:graphicData uri="http://schemas.openxmlformats.org/presentationml/2006/ole">
            <mc:AlternateContent xmlns:mc="http://schemas.openxmlformats.org/markup-compatibility/2006">
              <mc:Choice xmlns:v="urn:schemas-microsoft-com:vml" Requires="v">
                <p:oleObj name="Acrobat Document" r:id="rId2" imgW="6035040" imgH="4663299" progId="Acrobat.Document.DC">
                  <p:embed/>
                </p:oleObj>
              </mc:Choice>
              <mc:Fallback>
                <p:oleObj name="Acrobat Document" r:id="rId2" imgW="6035040" imgH="4663299" progId="Acrobat.Document.DC">
                  <p:embed/>
                  <p:pic>
                    <p:nvPicPr>
                      <p:cNvPr id="0" name=""/>
                      <p:cNvPicPr/>
                      <p:nvPr/>
                    </p:nvPicPr>
                    <p:blipFill>
                      <a:blip r:embed="rId3"/>
                      <a:stretch>
                        <a:fillRect/>
                      </a:stretch>
                    </p:blipFill>
                    <p:spPr>
                      <a:xfrm>
                        <a:off x="2652004" y="1695962"/>
                        <a:ext cx="6035675" cy="4664075"/>
                      </a:xfrm>
                      <a:prstGeom prst="rect">
                        <a:avLst/>
                      </a:prstGeom>
                    </p:spPr>
                  </p:pic>
                </p:oleObj>
              </mc:Fallback>
            </mc:AlternateContent>
          </a:graphicData>
        </a:graphic>
      </p:graphicFrame>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graphicFrame>
        <p:nvGraphicFramePr>
          <p:cNvPr id="2" name="Object 1">
            <a:extLst>
              <a:ext uri="{FF2B5EF4-FFF2-40B4-BE49-F238E27FC236}">
                <a16:creationId xmlns:a16="http://schemas.microsoft.com/office/drawing/2014/main" id="{0EC5E3F7-AC0C-9704-8C8D-641A606F9283}"/>
              </a:ext>
            </a:extLst>
          </p:cNvPr>
          <p:cNvGraphicFramePr>
            <a:graphicFrameLocks noChangeAspect="1"/>
          </p:cNvGraphicFramePr>
          <p:nvPr>
            <p:extLst>
              <p:ext uri="{D42A27DB-BD31-4B8C-83A1-F6EECF244321}">
                <p14:modId xmlns:p14="http://schemas.microsoft.com/office/powerpoint/2010/main" val="3374434982"/>
              </p:ext>
            </p:extLst>
          </p:nvPr>
        </p:nvGraphicFramePr>
        <p:xfrm>
          <a:off x="2888456" y="1523630"/>
          <a:ext cx="6415088" cy="4533900"/>
        </p:xfrm>
        <a:graphic>
          <a:graphicData uri="http://schemas.openxmlformats.org/presentationml/2006/ole">
            <mc:AlternateContent xmlns:mc="http://schemas.openxmlformats.org/markup-compatibility/2006">
              <mc:Choice xmlns:v="urn:schemas-microsoft-com:vml" Requires="v">
                <p:oleObj name="Acrobat Document" r:id="rId2" imgW="6415686" imgH="4533492" progId="Acrobat.Document.DC">
                  <p:embed/>
                </p:oleObj>
              </mc:Choice>
              <mc:Fallback>
                <p:oleObj name="Acrobat Document" r:id="rId2" imgW="6415686" imgH="4533492" progId="Acrobat.Document.DC">
                  <p:embed/>
                  <p:pic>
                    <p:nvPicPr>
                      <p:cNvPr id="0" name=""/>
                      <p:cNvPicPr/>
                      <p:nvPr/>
                    </p:nvPicPr>
                    <p:blipFill>
                      <a:blip r:embed="rId3"/>
                      <a:stretch>
                        <a:fillRect/>
                      </a:stretch>
                    </p:blipFill>
                    <p:spPr>
                      <a:xfrm>
                        <a:off x="2888456" y="1523630"/>
                        <a:ext cx="6415088" cy="4533900"/>
                      </a:xfrm>
                      <a:prstGeom prst="rect">
                        <a:avLst/>
                      </a:prstGeom>
                    </p:spPr>
                  </p:pic>
                </p:oleObj>
              </mc:Fallback>
            </mc:AlternateContent>
          </a:graphicData>
        </a:graphic>
      </p:graphicFrame>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193</TotalTime>
  <Words>1672</Words>
  <Application>Microsoft Office PowerPoint</Application>
  <PresentationFormat>Widescreen</PresentationFormat>
  <Paragraphs>129</Paragraphs>
  <Slides>16</Slides>
  <Notes>13</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1" baseType="lpstr">
      <vt:lpstr>Arial</vt:lpstr>
      <vt:lpstr>Calibri</vt:lpstr>
      <vt:lpstr>Times New Roman</vt:lpstr>
      <vt:lpstr>Office Theme</vt:lpstr>
      <vt:lpstr>Adobe Acrobat Document</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Harsh Sharma</dc:creator>
  <cp:lastModifiedBy>ssd_user</cp:lastModifiedBy>
  <cp:revision>18</cp:revision>
  <dcterms:created xsi:type="dcterms:W3CDTF">2025-07-08T05:06:56Z</dcterms:created>
  <dcterms:modified xsi:type="dcterms:W3CDTF">2026-09-11T19:40:53Z</dcterms:modified>
</cp:coreProperties>
</file>